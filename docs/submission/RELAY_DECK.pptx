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23cc131e6204769" /><Relationship Type="http://schemas.openxmlformats.org/officeDocument/2006/relationships/extended-properties" Target="/docProps/app.xml" Id="R5dbbd275688f4162" /><Relationship Type="http://schemas.openxmlformats.org/officeDocument/2006/relationships/officeDocument" Target="/ppt/presentation.xml" Id="Re5202ab6dd21471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36df294e9484d8f"/>
  </p:sldMasterIdLst>
  <p:notesMasterIdLst>
    <p:notesMasterId xmlns:r="http://schemas.openxmlformats.org/officeDocument/2006/relationships" r:id="R6752616079a0400d"/>
  </p:notesMasterIdLst>
  <p:sldIdLst>
    <p:sldId xmlns:r="http://schemas.openxmlformats.org/officeDocument/2006/relationships" id="256" r:id="R19226660c9a44ef1"/>
    <p:sldId xmlns:r="http://schemas.openxmlformats.org/officeDocument/2006/relationships" id="257" r:id="R73afd92f610b4554"/>
    <p:sldId xmlns:r="http://schemas.openxmlformats.org/officeDocument/2006/relationships" id="258" r:id="Rb7aa09254a6942fa"/>
    <p:sldId xmlns:r="http://schemas.openxmlformats.org/officeDocument/2006/relationships" id="259" r:id="R7f94a2713be045e6"/>
    <p:sldId xmlns:r="http://schemas.openxmlformats.org/officeDocument/2006/relationships" id="260" r:id="R3f55e72f181547b0"/>
    <p:sldId xmlns:r="http://schemas.openxmlformats.org/officeDocument/2006/relationships" id="261" r:id="Rc38e45aa319a470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bc9d4cc7d1a4e38" /><Relationship Type="http://schemas.openxmlformats.org/officeDocument/2006/relationships/slideMaster" Target="/ppt/slideMasters/slideMaster1.xml" Id="R736df294e9484d8f" /><Relationship Type="http://schemas.openxmlformats.org/officeDocument/2006/relationships/notesMaster" Target="/ppt/notesMasters/notesMaster1.xml" Id="R6752616079a0400d" /><Relationship Type="http://schemas.openxmlformats.org/officeDocument/2006/relationships/presProps" Target="/ppt/presProps.xml" Id="R4c144aa32da74a46" /><Relationship Type="http://schemas.openxmlformats.org/officeDocument/2006/relationships/tableStyles" Target="/ppt/tableStyles.xml" Id="R0aaf9b46fdbe44d8" /><Relationship Type="http://schemas.openxmlformats.org/officeDocument/2006/relationships/slide" Target="/ppt/slides/slide1.xml" Id="R19226660c9a44ef1" /><Relationship Type="http://schemas.openxmlformats.org/officeDocument/2006/relationships/slide" Target="/ppt/slides/slide2.xml" Id="R73afd92f610b4554" /><Relationship Type="http://schemas.openxmlformats.org/officeDocument/2006/relationships/slide" Target="/ppt/slides/slide3.xml" Id="Rb7aa09254a6942fa" /><Relationship Type="http://schemas.openxmlformats.org/officeDocument/2006/relationships/slide" Target="/ppt/slides/slide4.xml" Id="R7f94a2713be045e6" /><Relationship Type="http://schemas.openxmlformats.org/officeDocument/2006/relationships/slide" Target="/ppt/slides/slide5.xml" Id="R3f55e72f181547b0" /><Relationship Type="http://schemas.openxmlformats.org/officeDocument/2006/relationships/slide" Target="/ppt/slides/slide6.xml" Id="Rc38e45aa319a470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cc2f81b9ebf48c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1dd93cfa7374bd4" /><Relationship Type="http://schemas.openxmlformats.org/officeDocument/2006/relationships/notesMaster" Target="/ppt/notesMasters/notesMaster1.xml" Id="R3095c2300ac04ab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0a5911993d040e5" /><Relationship Type="http://schemas.openxmlformats.org/officeDocument/2006/relationships/notesMaster" Target="/ppt/notesMasters/notesMaster1.xml" Id="R209380333361414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7d52d07818a45c7" /><Relationship Type="http://schemas.openxmlformats.org/officeDocument/2006/relationships/notesMaster" Target="/ppt/notesMasters/notesMaster1.xml" Id="R96d282606aed467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0cfc01cbc474ad3" /><Relationship Type="http://schemas.openxmlformats.org/officeDocument/2006/relationships/notesMaster" Target="/ppt/notesMasters/notesMaster1.xml" Id="Rfb9fa31b8b404f7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9ebff92c4664cba" /><Relationship Type="http://schemas.openxmlformats.org/officeDocument/2006/relationships/notesMaster" Target="/ppt/notesMasters/notesMaster1.xml" Id="Rca6514874d0142e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82d7017a9524a85" /><Relationship Type="http://schemas.openxmlformats.org/officeDocument/2006/relationships/notesMaster" Target="/ppt/notesMasters/notesMaster1.xml" Id="R93a1a4c2863e4bd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Core journey and synthetic-data boundaries: docs/submission/TONIGHT_SUBMISSION.md and docs/decisions/0007-user-first-report-submission.md.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Product scope from docs/BUILD_SPEC.md and docs/decisions/0007-user-first-report-submission.md. No user research or quantified impact claim.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Run synthetic data only. Actual current live model completion and PDF must be checked before recording. Copy/PDF does not submit or establish acceptance.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Implementation: services/api/runtime.py, services/worker/main.py, agents/intake, agents/packets, infra/env/dev-application.yaml. Mumbai at-rest does not imply all model processing occurs in India.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Enforced guards and explicit simulation labels: packages/safety, packages/packets, services/mcp_bank_mock, services/mcp_rail_mock and docs/decisions/0006-packet-review-and-simulated-outbox.md. Human reviews remain pending.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Evidence: .tmp/preflight-core-r5.json servingChecksPassed=true/fullSpecGate=unknown; core91 tests passed in root release run18October. Historical full offline1112 pass is not cloud/live quality evidence. Read docs/submission/CORE_RELIABILITY_REVIEW.md.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3182cd414e426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e159534476429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af8a7fa3f84ac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77d2f33a3548d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a35e48d96d44b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31d17734a5409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1F5DB09-5576-4B50-8F67-85AB7D890A4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EFB3EC3-D1FC-4931-949C-DA9F7BE7624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5A8A982-5DB8-489F-9B2B-FE8E20AEB3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761704F-3EC8-4EC9-AA85-D50F121F1D3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E4BDCED-302F-41ED-8F50-FDDF29E9711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6F02F14-B389-4F46-A5DA-76BC4988EC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0B8FE2B-AAD7-418C-86D6-D8FBA3C86B4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8326AD7-4591-4F3C-BD25-411D1B2990A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24ADE63-B1D7-4991-A4D7-D3719F629D2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D497B63-25DC-4920-B217-4EB92A64EA6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ed28da89ef64822" /><Relationship Type="http://schemas.openxmlformats.org/officeDocument/2006/relationships/slideLayout" Target="/ppt/slideLayouts/slideLayout1.xml" Id="Re3173705a4d24f07" /><Relationship Type="http://schemas.openxmlformats.org/officeDocument/2006/relationships/slideLayout" Target="/ppt/slideLayouts/slideLayout2.xml" Id="R717abb2e316c49d9" /><Relationship Type="http://schemas.openxmlformats.org/officeDocument/2006/relationships/slideLayout" Target="/ppt/slideLayouts/slideLayout3.xml" Id="R35362c02b7974a44" /><Relationship Type="http://schemas.openxmlformats.org/officeDocument/2006/relationships/slideLayout" Target="/ppt/slideLayouts/slideLayout4.xml" Id="R15cda7eb8704495c" /><Relationship Type="http://schemas.openxmlformats.org/officeDocument/2006/relationships/slideLayout" Target="/ppt/slideLayouts/slideLayout5.xml" Id="R41ea133ee52f4fd8" /><Relationship Type="http://schemas.openxmlformats.org/officeDocument/2006/relationships/slideLayout" Target="/ppt/slideLayouts/slideLayout6.xml" Id="R6b54223af666428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3173705a4d24f07"/>
    <p:sldLayoutId xmlns:r="http://schemas.openxmlformats.org/officeDocument/2006/relationships" id="2147483650" r:id="R717abb2e316c49d9"/>
    <p:sldLayoutId xmlns:r="http://schemas.openxmlformats.org/officeDocument/2006/relationships" id="2147483651" r:id="R35362c02b7974a44"/>
    <p:sldLayoutId xmlns:r="http://schemas.openxmlformats.org/officeDocument/2006/relationships" id="2147483652" r:id="R15cda7eb8704495c"/>
    <p:sldLayoutId xmlns:r="http://schemas.openxmlformats.org/officeDocument/2006/relationships" id="2147483653" r:id="R41ea133ee52f4fd8"/>
    <p:sldLayoutId xmlns:r="http://schemas.openxmlformats.org/officeDocument/2006/relationships" id="2147483654" r:id="R6b54223af666428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d7b85d839e54a98" /><Relationship Type="http://schemas.openxmlformats.org/officeDocument/2006/relationships/notesSlide" Target="/ppt/notesSlides/notesSlide1.xml" Id="R900415d439be4ca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85b2b7f3c9c4232" /><Relationship Type="http://schemas.openxmlformats.org/officeDocument/2006/relationships/notesSlide" Target="/ppt/notesSlides/notesSlide2.xml" Id="R6a3798a1242d4c2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f0b80b6f854ff4" /><Relationship Type="http://schemas.openxmlformats.org/officeDocument/2006/relationships/notesSlide" Target="/ppt/notesSlides/notesSlide3.xml" Id="R8169fe62f6c64f6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9d8372dcae4194" /><Relationship Type="http://schemas.openxmlformats.org/officeDocument/2006/relationships/notesSlide" Target="/ppt/notesSlides/notesSlide4.xml" Id="R50b6ace812b4410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d3e3105be9a43ab" /><Relationship Type="http://schemas.openxmlformats.org/officeDocument/2006/relationships/notesSlide" Target="/ppt/notesSlides/notesSlide5.xml" Id="R92419e6145b14f4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4aed39c1d5b4137" /><Relationship Type="http://schemas.openxmlformats.org/officeDocument/2006/relationships/notesSlide" Target="/ppt/notesSlides/notesSlide6.xml" Id="Refec3819bd894f9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36200E-AE24-4FB2-BD9C-42C0A1B5C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defPPr>
            <a:lvl1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1pPr>
            <a:lvl2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2pPr>
            <a:lvl3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3pPr>
            <a:lvl4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4pPr>
            <a:lvl5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5pPr>
            <a:lvl6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6pPr>
            <a:lvl7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7pPr>
            <a:lvl8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8pPr>
            <a:lvl9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3B38"/>
                </a:solidFill>
                <a:latin typeface="Arial"/>
                <a:ea typeface="Arial"/>
                <a:cs typeface="Arial"/>
              </a:rPr>
              <a:t>Relay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EB46FF-41AD-4286-8F00-3039F3C94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67450"/>
            <a:ext cx="1000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60"/>
                </a:solidFill>
                <a:latin typeface="Arial"/>
                <a:ea typeface="Arial"/>
                <a:cs typeface="Arial"/>
              </a:rPr>
              <a:t>Relay / Development prototype / 18 October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955B4A-BC2D-4E86-ADEC-2472E76B9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6745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85F3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699700-4EE2-4008-BCA2-0E02091D0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43125"/>
            <a:ext cx="9906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65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defPPr>
            <a:lvl1pPr>
              <a:defRPr sz="465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1pPr>
            <a:lvl2pPr>
              <a:defRPr sz="465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2pPr>
            <a:lvl3pPr>
              <a:defRPr sz="465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3pPr>
            <a:lvl4pPr>
              <a:defRPr sz="465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4pPr>
            <a:lvl5pPr>
              <a:defRPr sz="465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5pPr>
            <a:lvl6pPr>
              <a:defRPr sz="465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6pPr>
            <a:lvl7pPr>
              <a:defRPr sz="465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7pPr>
            <a:lvl8pPr>
              <a:defRPr sz="465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8pPr>
            <a:lvl9pPr>
              <a:defRPr sz="465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465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73B38"/>
                </a:solidFill>
                <a:latin typeface="Arial"/>
                <a:ea typeface="Arial"/>
                <a:cs typeface="Arial"/>
              </a:rPr>
              <a:t>After a scam, prepare the next step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BDDC6E-B93E-4CBD-B146-389AC25F9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9525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defPPr>
            <a:lvl1pPr>
              <a:defRPr sz="24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526560"/>
                </a:solidFill>
                <a:latin typeface="Arial"/>
                <a:ea typeface="Arial"/>
                <a:cs typeface="Arial"/>
              </a:rPr>
              <a:t>Organize the facts. Review the proposed plan. Prepare a report you can submit yourself.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FD6E98-5C98-4F47-BDE6-31521E286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B85F3A"/>
                </a:solidFill>
                <a:latin typeface="Arial"/>
                <a:ea typeface="Arial"/>
                <a:cs typeface="Arial"/>
              </a:rPr>
              <a:t>Development demo: https://work-511514.web.app</a:t>
            </a:r>
          </a:p>
        </p:txBody>
      </p:sp>
    </p:spTree>
    <p:extLst>
      <p:ext uri="{BB962C8B-B14F-4D97-AF65-F5344CB8AC3E}">
        <p14:creationId xmlns:p14="http://schemas.microsoft.com/office/powerpoint/2010/main" val="34281621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D098F3-525C-43FF-AC7C-9478806B8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defPPr>
            <a:lvl1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1pPr>
            <a:lvl2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2pPr>
            <a:lvl3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3pPr>
            <a:lvl4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4pPr>
            <a:lvl5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5pPr>
            <a:lvl6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6pPr>
            <a:lvl7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7pPr>
            <a:lvl8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8pPr>
            <a:lvl9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3B38"/>
                </a:solidFill>
                <a:latin typeface="Arial"/>
                <a:ea typeface="Arial"/>
                <a:cs typeface="Arial"/>
              </a:rPr>
              <a:t>The person Relay helps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BC50C3-B5B7-4288-B3A2-86D6F74E8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67450"/>
            <a:ext cx="1000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60"/>
                </a:solidFill>
                <a:latin typeface="Arial"/>
                <a:ea typeface="Arial"/>
                <a:cs typeface="Arial"/>
              </a:rPr>
              <a:t>Relay / Development prototype / 18 October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BFCD69-C156-43B8-AF77-60965A317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6745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85F3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D07D09-8577-43ED-B0C6-7E54A5859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1047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defPPr>
            <a:lvl1pPr>
              <a:defRPr sz="292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1pPr>
            <a:lvl2pPr>
              <a:defRPr sz="292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2pPr>
            <a:lvl3pPr>
              <a:defRPr sz="292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3pPr>
            <a:lvl4pPr>
              <a:defRPr sz="292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4pPr>
            <a:lvl5pPr>
              <a:defRPr sz="292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5pPr>
            <a:lvl6pPr>
              <a:defRPr sz="292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6pPr>
            <a:lvl7pPr>
              <a:defRPr sz="292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7pPr>
            <a:lvl8pPr>
              <a:defRPr sz="292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8pPr>
            <a:lvl9pPr>
              <a:defRPr sz="292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173B38"/>
                </a:solidFill>
                <a:latin typeface="Arial"/>
                <a:ea typeface="Arial"/>
                <a:cs typeface="Arial"/>
              </a:rPr>
              <a:t>Someone who has just transferred money after an impersonation scam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2F9A67-C74C-4155-A51D-A5EE2B5C1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4572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B85F3A"/>
                </a:solidFill>
                <a:latin typeface="Arial"/>
                <a:ea typeface="Arial"/>
                <a:cs typeface="Arial"/>
              </a:rPr>
              <a:t>The immediate job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95BE7D-F20D-46C5-A3FF-AA12ED781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4762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173B38"/>
                </a:solidFill>
                <a:latin typeface="Arial"/>
                <a:ea typeface="Arial"/>
                <a:cs typeface="Arial"/>
              </a:defRPr>
            </a:defPPr>
            <a:lvl1pPr>
              <a:defRPr sz="2400" b="0">
                <a:solidFill>
                  <a:srgbClr val="173B38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173B38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173B38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173B38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173B38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173B38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173B38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173B38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173B3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73B3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73B38"/>
                </a:solidFill>
                <a:latin typeface="Arial"/>
                <a:ea typeface="Arial"/>
                <a:cs typeface="Arial"/>
              </a:rPr>
              <a:t>Record what happened and prepare accurate information for the right recipient.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A052F9-355D-4E95-92DF-32AC3CE39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238500"/>
            <a:ext cx="4572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B85F3A"/>
                </a:solidFill>
                <a:latin typeface="Arial"/>
                <a:ea typeface="Arial"/>
                <a:cs typeface="Arial"/>
              </a:rPr>
              <a:t>The output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D3F2A6-2E13-437A-9612-F5C652257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857625"/>
            <a:ext cx="4572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173B38"/>
                </a:solidFill>
                <a:latin typeface="Arial"/>
                <a:ea typeface="Arial"/>
                <a:cs typeface="Arial"/>
              </a:defRPr>
            </a:defPPr>
            <a:lvl1pPr>
              <a:defRPr sz="2400" b="0">
                <a:solidFill>
                  <a:srgbClr val="173B38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173B38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173B38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173B38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173B38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173B38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173B38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173B38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173B3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73B3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73B38"/>
                </a:solidFill>
                <a:latin typeface="Arial"/>
                <a:ea typeface="Arial"/>
                <a:cs typeface="Arial"/>
              </a:rPr>
              <a:t>A reviewable account, source-linked plan and downloadable report.</a:t>
            </a:r>
          </a:p>
        </p:txBody>
      </p:sp>
    </p:spTree>
    <p:extLst>
      <p:ext uri="{BB962C8B-B14F-4D97-AF65-F5344CB8AC3E}">
        <p14:creationId xmlns:p14="http://schemas.microsoft.com/office/powerpoint/2010/main" val="13984147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423921-5169-4CD5-9483-75E0B70B0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defPPr>
            <a:lvl1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1pPr>
            <a:lvl2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2pPr>
            <a:lvl3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3pPr>
            <a:lvl4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4pPr>
            <a:lvl5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5pPr>
            <a:lvl6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6pPr>
            <a:lvl7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7pPr>
            <a:lvl8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8pPr>
            <a:lvl9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3B38"/>
                </a:solidFill>
                <a:latin typeface="Arial"/>
                <a:ea typeface="Arial"/>
                <a:cs typeface="Arial"/>
              </a:rPr>
              <a:t>The core demonstration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86B661-D219-4277-89FC-578DBF648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67450"/>
            <a:ext cx="1000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60"/>
                </a:solidFill>
                <a:latin typeface="Arial"/>
                <a:ea typeface="Arial"/>
                <a:cs typeface="Arial"/>
              </a:rPr>
              <a:t>Relay / Development prototype / 18 October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F63670-7211-446A-AE22-6BD96DEA9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6745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85F3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523197-7A7F-4E39-90B7-929402EA3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228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B85F3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278F0C-4F9A-4261-B450-F767F79F6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238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3B38"/>
                </a:solidFill>
                <a:latin typeface="Arial"/>
                <a:ea typeface="Arial"/>
                <a:cs typeface="Arial"/>
              </a:rPr>
              <a:t>Tell us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4E280D-36CC-4973-BD7A-8BC25877E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238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560"/>
                </a:solidFill>
                <a:latin typeface="Arial"/>
                <a:ea typeface="Arial"/>
                <a:cs typeface="Arial"/>
              </a:rPr>
              <a:t>Describe the fictional incident in plain language.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4697B-1134-4EAC-A2E6-3DCE933DB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095500"/>
            <a:ext cx="228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B85F3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4D4BCC-8421-4276-B089-3B6AAB9DD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857500"/>
            <a:ext cx="238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3B38"/>
                </a:solidFill>
                <a:latin typeface="Arial"/>
                <a:ea typeface="Arial"/>
                <a:cs typeface="Arial"/>
              </a:rPr>
              <a:t>Confirm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F5FD6F-9531-40E8-8BAC-6EFAD0227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619500"/>
            <a:ext cx="238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560"/>
                </a:solidFill>
                <a:latin typeface="Arial"/>
                <a:ea typeface="Arial"/>
                <a:cs typeface="Arial"/>
              </a:rPr>
              <a:t>Check amount, payment method and statement.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A8954C-E1F7-4854-9295-064D0D4A5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95500"/>
            <a:ext cx="228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B85F3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879663-F6C7-4784-8C34-FF891CE27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857500"/>
            <a:ext cx="238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3B38"/>
                </a:solidFill>
                <a:latin typeface="Arial"/>
                <a:ea typeface="Arial"/>
                <a:cs typeface="Arial"/>
              </a:rPr>
              <a:t>Plan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DA4F5A-53E9-4D5C-8F91-411C6BA5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619500"/>
            <a:ext cx="238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560"/>
                </a:solidFill>
                <a:latin typeface="Arial"/>
                <a:ea typeface="Arial"/>
                <a:cs typeface="Arial"/>
              </a:rPr>
              <a:t>Review the suggested contact order and cited draft guidance.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CAD429-E3DE-40B3-8012-C19B2D2F3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095500"/>
            <a:ext cx="228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B85F3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4D3791-6015-41BF-B6E4-1E492A09B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857500"/>
            <a:ext cx="238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3B38"/>
                </a:solidFill>
                <a:latin typeface="Arial"/>
                <a:ea typeface="Arial"/>
                <a:cs typeface="Arial"/>
              </a:rPr>
              <a:t>Prepare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BEDBA0-75A1-45D0-9F2F-81CC3F2BF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619500"/>
            <a:ext cx="238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560"/>
                </a:solidFill>
                <a:latin typeface="Arial"/>
                <a:ea typeface="Arial"/>
                <a:cs typeface="Arial"/>
              </a:rPr>
              <a:t>Review a checked report, then copy or download the PDF.</a:t>
            </a:r>
          </a:p>
        </p:txBody>
      </p:sp>
    </p:spTree>
    <p:extLst>
      <p:ext uri="{BB962C8B-B14F-4D97-AF65-F5344CB8AC3E}">
        <p14:creationId xmlns:p14="http://schemas.microsoft.com/office/powerpoint/2010/main" val="13931464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B2B0BF-9FCC-4296-AF81-3D58DBED3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defPPr>
            <a:lvl1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1pPr>
            <a:lvl2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2pPr>
            <a:lvl3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3pPr>
            <a:lvl4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4pPr>
            <a:lvl5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5pPr>
            <a:lvl6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6pPr>
            <a:lvl7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7pPr>
            <a:lvl8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8pPr>
            <a:lvl9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3B38"/>
                </a:solidFill>
                <a:latin typeface="Arial"/>
                <a:ea typeface="Arial"/>
                <a:cs typeface="Arial"/>
              </a:rPr>
              <a:t>Google Cloud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22EAA8-578E-4606-B4AA-46D2A7A46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67450"/>
            <a:ext cx="1000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60"/>
                </a:solidFill>
                <a:latin typeface="Arial"/>
                <a:ea typeface="Arial"/>
                <a:cs typeface="Arial"/>
              </a:rPr>
              <a:t>Relay / Development prototype / 18 October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060160-6FAB-425F-8DB2-334A9D97E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6745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85F3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1AC332-33F1-46AB-8966-678326414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3B38"/>
                </a:solidFill>
                <a:latin typeface="Arial"/>
                <a:ea typeface="Arial"/>
                <a:cs typeface="Arial"/>
              </a:rPr>
              <a:t>Browser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A3874A-A0FC-4547-A54C-0BC52F4B3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19375"/>
            <a:ext cx="4286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560"/>
                </a:solidFill>
                <a:latin typeface="Arial"/>
                <a:ea typeface="Arial"/>
                <a:cs typeface="Arial"/>
              </a:rPr>
              <a:t>React on Firebase Hosting</a:t>
            </a:r>
          </a:p>
          <a:p xmlns:a="http://schemas.openxmlformats.org/drawingml/2006/main">
            <a: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560"/>
                </a:solidFill>
                <a:latin typeface="Arial"/>
                <a:ea typeface="Arial"/>
                <a:cs typeface="Arial"/>
              </a:rPr>
              <a:t>Firebase Auth and App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D684AE-831E-417E-8571-27B44425B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952625"/>
            <a:ext cx="428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3B38"/>
                </a:solidFill>
                <a:latin typeface="Arial"/>
                <a:ea typeface="Arial"/>
                <a:cs typeface="Arial"/>
              </a:rPr>
              <a:t>Application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FD5D3C-74EC-4AB6-9A16-A8A5F4FBF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19375"/>
            <a:ext cx="4762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560"/>
                </a:solidFill>
                <a:latin typeface="Arial"/>
                <a:ea typeface="Arial"/>
                <a:cs typeface="Arial"/>
              </a:rPr>
              <a:t>Cloud Run API and private worker</a:t>
            </a:r>
          </a:p>
          <a:p xmlns:a="http://schemas.openxmlformats.org/drawingml/2006/main">
            <a: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560"/>
                </a:solidFill>
                <a:latin typeface="Arial"/>
                <a:ea typeface="Arial"/>
                <a:cs typeface="Arial"/>
              </a:rPr>
              <a:t>Firestore and private Cloud Storage</a:t>
            </a:r>
          </a:p>
          <a:p xmlns:a="http://schemas.openxmlformats.org/drawingml/2006/main">
            <a: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560"/>
                </a:solidFill>
                <a:latin typeface="Arial"/>
                <a:ea typeface="Arial"/>
                <a:cs typeface="Arial"/>
              </a:rPr>
              <a:t>Pub/Sub background jobs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FB6430-EA20-4EED-9EA5-C5B07845B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33875"/>
            <a:ext cx="495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3B38"/>
                </a:solidFill>
                <a:latin typeface="Arial"/>
                <a:ea typeface="Arial"/>
                <a:cs typeface="Arial"/>
              </a:rPr>
              <a:t>AI and domain checks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6A9A0B-F4BF-4E13-875B-9257E711D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00625"/>
            <a:ext cx="1047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560"/>
                </a:solidFill>
                <a:latin typeface="Arial"/>
                <a:ea typeface="Arial"/>
                <a:cs typeface="Arial"/>
              </a:rPr>
              <a:t>Gemini through Google GenAI SDK and ADK workflows. Typed contracts, source references, version checks and report verification.</a:t>
            </a:r>
          </a:p>
        </p:txBody>
      </p:sp>
    </p:spTree>
    <p:extLst>
      <p:ext uri="{BB962C8B-B14F-4D97-AF65-F5344CB8AC3E}">
        <p14:creationId xmlns:p14="http://schemas.microsoft.com/office/powerpoint/2010/main" val="46766904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63281A-E999-4816-8957-F4B17DC7B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defPPr>
            <a:lvl1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1pPr>
            <a:lvl2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2pPr>
            <a:lvl3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3pPr>
            <a:lvl4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4pPr>
            <a:lvl5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5pPr>
            <a:lvl6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6pPr>
            <a:lvl7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7pPr>
            <a:lvl8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8pPr>
            <a:lvl9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3B38"/>
                </a:solidFill>
                <a:latin typeface="Arial"/>
                <a:ea typeface="Arial"/>
                <a:cs typeface="Arial"/>
              </a:rPr>
              <a:t>User control and simulation boundaries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5C4058-24C9-4733-9301-615393509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67450"/>
            <a:ext cx="1000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60"/>
                </a:solidFill>
                <a:latin typeface="Arial"/>
                <a:ea typeface="Arial"/>
                <a:cs typeface="Arial"/>
              </a:rPr>
              <a:t>Relay / Development prototype / 18 October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7DFDD4-A957-4D41-9722-DE35C259B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6745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85F3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3EE8FB-C1D2-4EDF-BD82-C0C576D6C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3B38"/>
                </a:solidFill>
                <a:latin typeface="Arial"/>
                <a:ea typeface="Arial"/>
                <a:cs typeface="Arial"/>
              </a:rPr>
              <a:t>User control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038A0C-1C80-4D05-B10E-8BC306B3E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9875"/>
            <a:ext cx="5048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526560"/>
                </a:solidFill>
                <a:latin typeface="Arial"/>
                <a:ea typeface="Arial"/>
                <a:cs typeface="Arial"/>
              </a:rPr>
              <a:t>Confirm facts before use</a:t>
            </a:r>
          </a:p>
          <a:p xmlns:a="http://schemas.openxmlformats.org/drawingml/2006/main">
            <a:pPr>
              <a:defRPr sz="217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526560"/>
                </a:solidFill>
                <a:latin typeface="Arial"/>
                <a:ea typeface="Arial"/>
                <a:cs typeface="Arial"/>
              </a:rPr>
              <a:t>Review the current report version</a:t>
            </a:r>
          </a:p>
          <a:p xmlns:a="http://schemas.openxmlformats.org/drawingml/2006/main">
            <a:pPr>
              <a:defRPr sz="217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526560"/>
                </a:solidFill>
                <a:latin typeface="Arial"/>
                <a:ea typeface="Arial"/>
                <a:cs typeface="Arial"/>
              </a:rPr>
              <a:t>Submit through the listed recipient channel</a:t>
            </a:r>
          </a:p>
          <a:p xmlns:a="http://schemas.openxmlformats.org/drawingml/2006/main">
            <a:pPr>
              <a:defRPr sz="217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526560"/>
                </a:solidFill>
                <a:latin typeface="Arial"/>
                <a:ea typeface="Arial"/>
                <a:cs typeface="Arial"/>
              </a:rPr>
              <a:t>Explicit approval for simulated delivery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1F715E-6A09-47CF-ACFC-884A4AED4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00250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3B38"/>
                </a:solidFill>
                <a:latin typeface="Arial"/>
                <a:ea typeface="Arial"/>
                <a:cs typeface="Arial"/>
              </a:rPr>
              <a:t>Demonstration boundaries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FC2E0B-64F7-402D-AC1C-38B39CFB7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809875"/>
            <a:ext cx="48577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526560"/>
                </a:solidFill>
                <a:latin typeface="Arial"/>
                <a:ea typeface="Arial"/>
                <a:cs typeface="Arial"/>
              </a:rPr>
              <a:t>Synthetic data only</a:t>
            </a:r>
          </a:p>
          <a:p xmlns:a="http://schemas.openxmlformats.org/drawingml/2006/main">
            <a:pPr>
              <a:defRPr sz="217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526560"/>
                </a:solidFill>
                <a:latin typeface="Arial"/>
                <a:ea typeface="Arial"/>
                <a:cs typeface="Arial"/>
              </a:rPr>
              <a:t>Bank, police and payment actions simulated</a:t>
            </a:r>
          </a:p>
          <a:p xmlns:a="http://schemas.openxmlformats.org/drawingml/2006/main">
            <a:pPr>
              <a:defRPr sz="217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526560"/>
                </a:solidFill>
                <a:latin typeface="Arial"/>
                <a:ea typeface="Arial"/>
                <a:cs typeface="Arial"/>
              </a:rPr>
              <a:t>Guidance remains visibly unreviewed</a:t>
            </a:r>
          </a:p>
          <a:p xmlns:a="http://schemas.openxmlformats.org/drawingml/2006/main">
            <a:pPr>
              <a:defRPr sz="217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526560"/>
                </a:solidFill>
                <a:latin typeface="Arial"/>
                <a:ea typeface="Arial"/>
                <a:cs typeface="Arial"/>
              </a:rPr>
              <a:t>No recovery or official acceptance claim</a:t>
            </a:r>
          </a:p>
        </p:txBody>
      </p:sp>
    </p:spTree>
    <p:extLst>
      <p:ext uri="{BB962C8B-B14F-4D97-AF65-F5344CB8AC3E}">
        <p14:creationId xmlns:p14="http://schemas.microsoft.com/office/powerpoint/2010/main" val="191046897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A4DC0E-4B1B-461F-9D79-61439E212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defPPr>
            <a:lvl1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1pPr>
            <a:lvl2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2pPr>
            <a:lvl3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3pPr>
            <a:lvl4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4pPr>
            <a:lvl5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5pPr>
            <a:lvl6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6pPr>
            <a:lvl7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7pPr>
            <a:lvl8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8pPr>
            <a:lvl9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75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3B38"/>
                </a:solidFill>
                <a:latin typeface="Arial"/>
                <a:ea typeface="Arial"/>
                <a:cs typeface="Arial"/>
              </a:rPr>
              <a:t>Evidence and remaining work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AA868B-FF47-4507-BB9E-AD8782960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67450"/>
            <a:ext cx="1000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60"/>
                </a:solidFill>
                <a:latin typeface="Arial"/>
                <a:ea typeface="Arial"/>
                <a:cs typeface="Arial"/>
              </a:rPr>
              <a:t>Relay / Development prototype / 18 October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6A431B-81ED-4BB9-9EDC-C3C046BC6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6745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85F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85F3A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111250-478F-4016-B5D7-A90C6DB40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504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173B38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3B38"/>
                </a:solidFill>
                <a:latin typeface="Arial"/>
                <a:ea typeface="Arial"/>
                <a:cs typeface="Arial"/>
              </a:rPr>
              <a:t>Verified for this release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840D9A-BFDB-430D-91D8-5033344EF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5143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560"/>
                </a:solidFill>
                <a:latin typeface="Arial"/>
                <a:ea typeface="Arial"/>
                <a:cs typeface="Arial"/>
              </a:rPr>
              <a:t>91 core regression tests passed</a:t>
            </a:r>
          </a:p>
          <a:p xmlns:a="http://schemas.openxmlformats.org/drawingml/2006/main">
            <a: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560"/>
                </a:solidFill>
                <a:latin typeface="Arial"/>
                <a:ea typeface="Arial"/>
                <a:cs typeface="Arial"/>
              </a:rPr>
              <a:t>Python and TypeScript checks passed</a:t>
            </a:r>
          </a:p>
          <a:p xmlns:a="http://schemas.openxmlformats.org/drawingml/2006/main">
            <a: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560"/>
                </a:solidFill>
                <a:latin typeface="Arial"/>
                <a:ea typeface="Arial"/>
                <a:cs typeface="Arial"/>
              </a:rPr>
              <a:t>Hosted core flow and signed PDF passed</a:t>
            </a:r>
          </a:p>
          <a:p xmlns:a="http://schemas.openxmlformats.org/drawingml/2006/main">
            <a:pPr>
              <a:defRPr sz="2025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560"/>
                </a:solidFill>
                <a:latin typeface="Arial"/>
                <a:ea typeface="Arial"/>
                <a:cs typeface="Arial"/>
              </a:rPr>
              <a:t>One live run produced 3 checked reports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E76F47-4A4C-48BF-87E6-2AAFC9622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5262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B85F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B85F3A"/>
                </a:solidFill>
                <a:latin typeface="Arial"/>
                <a:ea typeface="Arial"/>
                <a:cs typeface="Arial"/>
              </a:rPr>
              <a:t>Open gates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D660BC-F070-4247-9364-C71FBA7EB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62250"/>
            <a:ext cx="49530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26560"/>
                </a:solidFill>
                <a:latin typeface="Arial"/>
                <a:ea typeface="Arial"/>
                <a:cs typeface="Arial"/>
              </a:rPr>
              <a:t>Live report reliability and model quota</a:t>
            </a:r>
          </a:p>
          <a:p xmlns:a="http://schemas.openxmlformats.org/drawingml/2006/main">
            <a:pPr>
              <a:defRPr sz="21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26560"/>
                </a:solidFill>
                <a:latin typeface="Arial"/>
                <a:ea typeface="Arial"/>
                <a:cs typeface="Arial"/>
              </a:rPr>
              <a:t>Human guidance and Hindi review</a:t>
            </a:r>
          </a:p>
          <a:p xmlns:a="http://schemas.openxmlformats.org/drawingml/2006/main">
            <a:pPr>
              <a:defRPr sz="21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26560"/>
                </a:solidFill>
                <a:latin typeface="Arial"/>
                <a:ea typeface="Arial"/>
                <a:cs typeface="Arial"/>
              </a:rPr>
              <a:t>Voice, Studio and linking cloud integration</a:t>
            </a:r>
          </a:p>
          <a:p xmlns:a="http://schemas.openxmlformats.org/drawingml/2006/main">
            <a:pPr>
              <a:defRPr sz="2100" b="0">
                <a:solidFill>
                  <a:srgbClr val="52656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26560"/>
                </a:solidFill>
                <a:latin typeface="Arial"/>
                <a:ea typeface="Arial"/>
                <a:cs typeface="Arial"/>
              </a:rPr>
              <a:t>Comparative model quality measurements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8145CD-AC49-4A21-BDC5-21D8713B7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173B38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73B38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73B38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73B38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73B38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73B38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73B38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73B38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73B38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73B3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73B3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3B38"/>
                </a:solidFill>
                <a:latin typeface="Arial"/>
                <a:ea typeface="Arial"/>
                <a:cs typeface="Arial"/>
              </a:rPr>
              <a:t>The deployed scope prioritizes the text journey. Advanced features remain disabled.</a:t>
            </a:r>
          </a:p>
        </p:txBody>
      </p:sp>
    </p:spTree>
    <p:extLst>
      <p:ext uri="{BB962C8B-B14F-4D97-AF65-F5344CB8AC3E}">
        <p14:creationId xmlns:p14="http://schemas.microsoft.com/office/powerpoint/2010/main" val="63837890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2026-10-18T06:26:23.6270000Z</dcterms:created>
  <dcterms:modified xsi:type="dcterms:W3CDTF">2026-10-18T06:26:23.6270000Z</dcterms:modified>
</coreProperties>
</file>